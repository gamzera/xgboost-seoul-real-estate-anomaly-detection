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9" r:id="rId3"/>
  </p:sldMasterIdLst>
  <p:notesMasterIdLst>
    <p:notesMasterId r:id="rId4"/>
  </p:notesMasterIdLst>
  <p:sldIdLst>
    <p:sldId id="256" r:id="rId6"/>
    <p:sldId id="257" r:id="rId7"/>
    <p:sldId id="258" r:id="rId8"/>
    <p:sldId id="259" r:id="rId10"/>
    <p:sldId id="260" r:id="rId12"/>
    <p:sldId id="261" r:id="rId14"/>
    <p:sldId id="262" r:id="rId16"/>
    <p:sldId id="263" r:id="rId18"/>
    <p:sldId id="264" r:id="rId20"/>
  </p:sldIdLst>
  <p:notesMaster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notesMaster" Target="notesMasters/notesMaster1.xml"></Relationship><Relationship Id="rId5" Type="http://schemas.openxmlformats.org/officeDocument/2006/relationships/theme" Target="theme/theme2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10" Type="http://schemas.openxmlformats.org/officeDocument/2006/relationships/slide" Target="slides/slide4.xml"></Relationship><Relationship Id="rId12" Type="http://schemas.openxmlformats.org/officeDocument/2006/relationships/slide" Target="slides/slide5.xml"></Relationship><Relationship Id="rId14" Type="http://schemas.openxmlformats.org/officeDocument/2006/relationships/slide" Target="slides/slide6.xml"></Relationship><Relationship Id="rId16" Type="http://schemas.openxmlformats.org/officeDocument/2006/relationships/slide" Target="slides/slide7.xml"></Relationship><Relationship Id="rId18" Type="http://schemas.openxmlformats.org/officeDocument/2006/relationships/slide" Target="slides/slide8.xml"></Relationship><Relationship Id="rId20" Type="http://schemas.openxmlformats.org/officeDocument/2006/relationships/slide" Target="slides/slide9.xml"></Relationship><Relationship Id="rId23" Type="http://schemas.openxmlformats.org/officeDocument/2006/relationships/viewProps" Target="viewProps.xml"></Relationship><Relationship Id="rId24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image" Target="../media/fImage5737738541.jpeg"></Relationship><Relationship Id="rId4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3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3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4" Type="http://schemas.openxmlformats.org/officeDocument/2006/relationships/notesSlide" Target="../notesSlides/notesSlide7.xml"></Relationship><Relationship Id="rId5" Type="http://schemas.openxmlformats.org/officeDocument/2006/relationships/image" Target="../media/fImage32038038141.png"></Relationship><Relationship Id="rId6" Type="http://schemas.openxmlformats.org/officeDocument/2006/relationships/image" Target="../media/fImage1090033828467.png"></Relationship><Relationship Id="rId7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573773878467.jpe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84705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84705"/>
            <a:ext cx="9144000" cy="64135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777240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B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용인대학교  AI학부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30235" cy="139065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25000"/>
              </a:lnSpc>
              <a:buFontTx/>
              <a:buNone/>
            </a:pPr>
            <a:r>
              <a:rPr lang="en-US" sz="28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XGBoost 기반 부동산 가격 적정성 평가</a:t>
            </a:r>
            <a:endParaRPr lang="ko-KR" altLang="en-US" sz="28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  <a:p>
            <a:pPr marL="0" indent="0" algn="l">
              <a:lnSpc>
                <a:spcPct val="125000"/>
              </a:lnSpc>
              <a:buFontTx/>
              <a:buNone/>
            </a:pPr>
            <a:r>
              <a:rPr lang="en-US" sz="28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및 이상 거래 탐지</a:t>
            </a:r>
            <a:r>
              <a:rPr lang="en-US" sz="28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: 서울시 사례 연구</a:t>
            </a:r>
            <a:endParaRPr lang="ko-KR" altLang="en-US" sz="28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graphicFrame>
        <p:nvGraphicFramePr>
          <p:cNvPr id="16" name="표 8"/>
          <p:cNvGraphicFramePr>
            <a:graphicFrameLocks noGrp="1"/>
          </p:cNvGraphicFramePr>
          <p:nvPr/>
        </p:nvGraphicFramePr>
        <p:xfrm>
          <a:off x="498475" y="2678430"/>
          <a:ext cx="60960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10"/>
                <a:gridCol w="4377690"/>
              </a:tblGrid>
              <a:tr h="32385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en-US" sz="1050" kern="1200" i="0" b="1">
                          <a:solidFill>
                            <a:srgbClr val="2F6FA3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발표자</a:t>
                      </a:r>
                      <a:endParaRPr lang="ko-KR" altLang="en-US" sz="1050" kern="1200" i="0" b="1">
                        <a:solidFill>
                          <a:srgbClr val="2F6FA3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en-US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이예영</a:t>
                      </a:r>
                      <a:endParaRPr lang="ko-KR" altLang="en-US" sz="1150" kern="1200" i="0" b="1">
                        <a:solidFill>
                          <a:srgbClr val="2B2B2B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050" kern="1200" i="0" b="1">
                          <a:solidFill>
                            <a:srgbClr val="2F6FA3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소속</a:t>
                      </a:r>
                      <a:endParaRPr lang="ko-KR" altLang="en-US" sz="1050" kern="1200" i="0" b="1">
                        <a:solidFill>
                          <a:srgbClr val="2F6FA3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용인대학교</a:t>
                      </a: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AI학부</a:t>
                      </a:r>
                      <a:endParaRPr lang="ko-KR" altLang="en-US" sz="1150" kern="1200" i="0" b="1">
                        <a:solidFill>
                          <a:srgbClr val="2B2B2B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050" kern="1200" i="0" b="1">
                          <a:solidFill>
                            <a:srgbClr val="2F6FA3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지도교수</a:t>
                      </a:r>
                      <a:endParaRPr lang="ko-KR" altLang="en-US" sz="1050" kern="1200" i="0" b="1">
                        <a:solidFill>
                          <a:srgbClr val="2F6FA3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천양하 교수님</a:t>
                      </a:r>
                      <a:endParaRPr lang="ko-KR" altLang="en-US" sz="1150" kern="1200" i="0" b="1">
                        <a:solidFill>
                          <a:srgbClr val="2B2B2B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050" kern="1200" i="0" b="1">
                          <a:solidFill>
                            <a:srgbClr val="2F6FA3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학회</a:t>
                      </a:r>
                      <a:endParaRPr lang="ko-KR" altLang="en-US" sz="1050" kern="1200" i="0" b="1">
                        <a:solidFill>
                          <a:srgbClr val="2F6FA3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제59회 한국정보통신학회 춘계종합학술대회</a:t>
                      </a:r>
                      <a:endParaRPr lang="ko-KR" altLang="en-US" sz="1150" kern="1200" i="0" b="1">
                        <a:solidFill>
                          <a:srgbClr val="2B2B2B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050" kern="1200" i="0" b="1">
                          <a:solidFill>
                            <a:srgbClr val="2F6FA3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발표일</a:t>
                      </a:r>
                      <a:endParaRPr lang="ko-KR" altLang="en-US" sz="1050" kern="1200" i="0" b="1">
                        <a:solidFill>
                          <a:srgbClr val="2F6FA3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2026년 5월 22일</a:t>
                      </a:r>
                      <a:endParaRPr lang="ko-KR" altLang="en-US" sz="1150" kern="1200" i="0" b="1">
                        <a:solidFill>
                          <a:srgbClr val="2B2B2B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050" kern="1200" i="0" b="1">
                          <a:solidFill>
                            <a:srgbClr val="2F6FA3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데이터</a:t>
                      </a:r>
                      <a:endParaRPr lang="ko-KR" altLang="en-US" sz="1050" kern="1200" i="0" b="1">
                        <a:solidFill>
                          <a:srgbClr val="2F6FA3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150" kern="1200" i="0" b="1">
                          <a:solidFill>
                            <a:srgbClr val="2B2B2B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국토교통부 부동산 실거래가 CSV, 2022~2025년</a:t>
                      </a:r>
                      <a:endParaRPr lang="ko-KR" altLang="en-US" sz="1150" kern="1200" i="0" b="1">
                        <a:solidFill>
                          <a:srgbClr val="2B2B2B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0170" marR="90170" marT="46990" marB="4699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7" name="그림 22" descr="C:/Users/y2l10/AppData/Roaming/PolarisOffice/ETemp/27444_8203584/fImage5737738541.jpeg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04760" y="4658995"/>
            <a:ext cx="1126490" cy="2622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및 목적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20380" cy="40322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단순 시세 비교만으로는 서울시 부동산 가격 적정성을 판단하기 어렵다 — 데이터 기반 예측 모델이 필요하다</a:t>
            </a:r>
            <a:r>
              <a:rPr lang="ko-KR" sz="11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.</a:t>
            </a:r>
            <a:endParaRPr lang="ko-KR" altLang="en-US" sz="11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00530"/>
            <a:ext cx="3931920" cy="74993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00530"/>
            <a:ext cx="45720" cy="74993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055" y="1755775"/>
            <a:ext cx="3694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가격은 면적·지역·층수·건축년도·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시점 등 복합 요인의 영향을 받음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3931920" cy="74993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60320"/>
            <a:ext cx="45720" cy="74993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055" y="2614930"/>
            <a:ext cx="3694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시세 비교만으로 가격 적정성을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판단하기 어려움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20110"/>
            <a:ext cx="3931920" cy="749935"/>
          </a:xfrm>
          <a:prstGeom prst="rect">
            <a:avLst/>
          </a:prstGeom>
          <a:solidFill>
            <a:srgbClr val="EB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420110"/>
            <a:ext cx="45720" cy="749935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7055" y="3474720"/>
            <a:ext cx="3694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예측 모델을 통한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객관적 가격 평가 방법이 필요함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35170" y="1334770"/>
            <a:ext cx="18415" cy="352933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465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465" y="1700530"/>
            <a:ext cx="4114800" cy="74993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465" y="1700530"/>
            <a:ext cx="567055" cy="749935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465" y="1700530"/>
            <a:ext cx="567055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791970"/>
            <a:ext cx="3364865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예측 모델 구축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103120"/>
            <a:ext cx="33648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기반 거래가격 예측 모델 개발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465" y="2560320"/>
            <a:ext cx="4114800" cy="74993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465" y="2560320"/>
            <a:ext cx="567055" cy="749935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465" y="2560320"/>
            <a:ext cx="567055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51760"/>
            <a:ext cx="3364865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가격 요인 반영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962910"/>
            <a:ext cx="33648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면적·지역·층수·건축년도·거래 시점 학습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465" y="3420110"/>
            <a:ext cx="4114800" cy="74993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465" y="3420110"/>
            <a:ext cx="567055" cy="749935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465" y="3420110"/>
            <a:ext cx="567055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511550"/>
            <a:ext cx="3364865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거래 후보 탐지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822065"/>
            <a:ext cx="33648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분석으로 가격 패턴 이탈 거래 선별</a:t>
            </a:r>
            <a:endParaRPr lang="en-US" sz="1050" dirty="0"/>
          </a:p>
        </p:txBody>
      </p:sp>
      <p:sp>
        <p:nvSpPr>
          <p:cNvPr id="35" name="Text 33"/>
          <p:cNvSpPr>
            <a:spLocks/>
          </p:cNvSpPr>
          <p:nvPr/>
        </p:nvSpPr>
        <p:spPr>
          <a:xfrm rot="0">
            <a:off x="411480" y="4866640"/>
            <a:ext cx="8321675" cy="23812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 i="1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※  이상 거래는 불법 거래로 확정하는 것이 아니라, 추가 검토가 필요한 후보 거래를 의미한다.</a:t>
            </a:r>
            <a:endParaRPr lang="ko-KR" altLang="en-US" sz="950" i="1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구성 및 전처리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19745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국토교통부 서울시 실거래가 189,864건을 수집하고, 파생 변수 생성 및 Label Encoding으로 모델 입력을 구성하였다</a:t>
            </a:r>
            <a:endParaRPr lang="en-US" sz="1100" dirty="0"/>
          </a:p>
        </p:txBody>
      </p:sp>
      <p:sp>
        <p:nvSpPr>
          <p:cNvPr id="8" name="Text 6"/>
          <p:cNvSpPr>
            <a:spLocks/>
          </p:cNvSpPr>
          <p:nvPr/>
        </p:nvSpPr>
        <p:spPr>
          <a:xfrm rot="0">
            <a:off x="411480" y="1264920"/>
            <a:ext cx="3932555" cy="25654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5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사용 데이터</a:t>
            </a:r>
            <a:endParaRPr lang="ko-KR" altLang="en-US" sz="115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9" name="Shape 7"/>
          <p:cNvSpPr>
            <a:spLocks/>
          </p:cNvSpPr>
          <p:nvPr/>
        </p:nvSpPr>
        <p:spPr>
          <a:xfrm rot="0">
            <a:off x="411480" y="1557655"/>
            <a:ext cx="3932555" cy="32956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Text 8"/>
          <p:cNvSpPr>
            <a:spLocks/>
          </p:cNvSpPr>
          <p:nvPr/>
        </p:nvSpPr>
        <p:spPr>
          <a:xfrm rot="0">
            <a:off x="502920" y="1557655"/>
            <a:ext cx="750570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출처</a:t>
            </a:r>
            <a:endParaRPr lang="ko-KR" altLang="en-US" sz="1000" b="1">
              <a:solidFill>
                <a:srgbClr val="2F6FA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1" name="Text 9"/>
          <p:cNvSpPr>
            <a:spLocks/>
          </p:cNvSpPr>
          <p:nvPr/>
        </p:nvSpPr>
        <p:spPr>
          <a:xfrm rot="0">
            <a:off x="1298575" y="1557655"/>
            <a:ext cx="2963545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5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국토교통부 부동산 실거래가</a:t>
            </a:r>
            <a:endParaRPr lang="ko-KR" altLang="en-US" sz="105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2" name="Shape 10"/>
          <p:cNvSpPr>
            <a:spLocks/>
          </p:cNvSpPr>
          <p:nvPr/>
        </p:nvSpPr>
        <p:spPr>
          <a:xfrm rot="0">
            <a:off x="411480" y="1905000"/>
            <a:ext cx="3932555" cy="32956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3" name="Text 11"/>
          <p:cNvSpPr>
            <a:spLocks/>
          </p:cNvSpPr>
          <p:nvPr/>
        </p:nvSpPr>
        <p:spPr>
          <a:xfrm rot="0">
            <a:off x="502920" y="1905000"/>
            <a:ext cx="750570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대상</a:t>
            </a:r>
            <a:endParaRPr lang="ko-KR" altLang="en-US" sz="1000" b="1">
              <a:solidFill>
                <a:srgbClr val="2F6FA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4" name="Text 12"/>
          <p:cNvSpPr>
            <a:spLocks/>
          </p:cNvSpPr>
          <p:nvPr/>
        </p:nvSpPr>
        <p:spPr>
          <a:xfrm rot="0">
            <a:off x="1298575" y="1905000"/>
            <a:ext cx="2963545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5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서울시 아파트 거래 데이터</a:t>
            </a:r>
            <a:endParaRPr lang="ko-KR" altLang="en-US" sz="105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5" name="Shape 13"/>
          <p:cNvSpPr>
            <a:spLocks/>
          </p:cNvSpPr>
          <p:nvPr/>
        </p:nvSpPr>
        <p:spPr>
          <a:xfrm rot="0">
            <a:off x="411480" y="2252345"/>
            <a:ext cx="3932555" cy="32956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502920" y="2252345"/>
            <a:ext cx="750570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기간</a:t>
            </a:r>
            <a:endParaRPr lang="ko-KR" altLang="en-US" sz="1000" b="1">
              <a:solidFill>
                <a:srgbClr val="2F6FA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Text 15"/>
          <p:cNvSpPr>
            <a:spLocks/>
          </p:cNvSpPr>
          <p:nvPr/>
        </p:nvSpPr>
        <p:spPr>
          <a:xfrm rot="0">
            <a:off x="1298575" y="2252345"/>
            <a:ext cx="2963545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5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2022년 ~ 2025년</a:t>
            </a:r>
            <a:endParaRPr lang="ko-KR" altLang="en-US" sz="105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8" name="Shape 16"/>
          <p:cNvSpPr>
            <a:spLocks/>
          </p:cNvSpPr>
          <p:nvPr/>
        </p:nvSpPr>
        <p:spPr>
          <a:xfrm rot="0">
            <a:off x="411480" y="2599690"/>
            <a:ext cx="3932555" cy="32956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9" name="Text 17"/>
          <p:cNvSpPr>
            <a:spLocks/>
          </p:cNvSpPr>
          <p:nvPr/>
        </p:nvSpPr>
        <p:spPr>
          <a:xfrm rot="0">
            <a:off x="502920" y="2599690"/>
            <a:ext cx="750570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규모</a:t>
            </a:r>
            <a:endParaRPr lang="ko-KR" altLang="en-US" sz="1000" b="1">
              <a:solidFill>
                <a:srgbClr val="2F6FA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0" name="Text 18"/>
          <p:cNvSpPr>
            <a:spLocks/>
          </p:cNvSpPr>
          <p:nvPr/>
        </p:nvSpPr>
        <p:spPr>
          <a:xfrm rot="0">
            <a:off x="1298575" y="2599690"/>
            <a:ext cx="2963545" cy="329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5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약 189,864건</a:t>
            </a:r>
            <a:endParaRPr lang="ko-KR" altLang="en-US" sz="105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1" name="Text 19"/>
          <p:cNvSpPr>
            <a:spLocks/>
          </p:cNvSpPr>
          <p:nvPr/>
        </p:nvSpPr>
        <p:spPr>
          <a:xfrm rot="0">
            <a:off x="411480" y="3020695"/>
            <a:ext cx="3932555" cy="25654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5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주요 변수</a:t>
            </a:r>
            <a:endParaRPr lang="ko-KR" altLang="en-US" sz="115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2" name="Shape 20"/>
          <p:cNvSpPr>
            <a:spLocks/>
          </p:cNvSpPr>
          <p:nvPr/>
        </p:nvSpPr>
        <p:spPr>
          <a:xfrm rot="0">
            <a:off x="411480" y="3313430"/>
            <a:ext cx="3932555" cy="274955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3" name="Text 21"/>
          <p:cNvSpPr>
            <a:spLocks/>
          </p:cNvSpPr>
          <p:nvPr/>
        </p:nvSpPr>
        <p:spPr>
          <a:xfrm rot="0">
            <a:off x="502920" y="3313430"/>
            <a:ext cx="100647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변수명</a:t>
            </a:r>
            <a:endParaRPr lang="ko-KR" altLang="en-US" sz="95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4" name="Text 22"/>
          <p:cNvSpPr>
            <a:spLocks/>
          </p:cNvSpPr>
          <p:nvPr/>
        </p:nvSpPr>
        <p:spPr>
          <a:xfrm rot="0">
            <a:off x="1554480" y="3313430"/>
            <a:ext cx="270700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원본 컬럼명</a:t>
            </a:r>
            <a:endParaRPr lang="ko-KR" altLang="en-US" sz="95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5" name="Shape 23"/>
          <p:cNvSpPr>
            <a:spLocks/>
          </p:cNvSpPr>
          <p:nvPr/>
        </p:nvSpPr>
        <p:spPr>
          <a:xfrm rot="0">
            <a:off x="411480" y="3587750"/>
            <a:ext cx="3932555" cy="22923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6" name="Text 24"/>
          <p:cNvSpPr>
            <a:spLocks/>
          </p:cNvSpPr>
          <p:nvPr/>
        </p:nvSpPr>
        <p:spPr>
          <a:xfrm rot="0">
            <a:off x="502920" y="3587750"/>
            <a:ext cx="100647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전용면적</a:t>
            </a:r>
            <a:endParaRPr lang="ko-KR" altLang="en-US" sz="9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7" name="Text 25"/>
          <p:cNvSpPr>
            <a:spLocks/>
          </p:cNvSpPr>
          <p:nvPr/>
        </p:nvSpPr>
        <p:spPr>
          <a:xfrm rot="0">
            <a:off x="1554480" y="3587750"/>
            <a:ext cx="270700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전용면적(㎡)</a:t>
            </a:r>
            <a:endParaRPr lang="ko-KR" altLang="en-US" sz="9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8" name="Shape 26"/>
          <p:cNvSpPr>
            <a:spLocks/>
          </p:cNvSpPr>
          <p:nvPr/>
        </p:nvSpPr>
        <p:spPr>
          <a:xfrm rot="0">
            <a:off x="411480" y="3816350"/>
            <a:ext cx="3932555" cy="22923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9" name="Text 27"/>
          <p:cNvSpPr>
            <a:spLocks/>
          </p:cNvSpPr>
          <p:nvPr/>
        </p:nvSpPr>
        <p:spPr>
          <a:xfrm rot="0">
            <a:off x="502920" y="3816350"/>
            <a:ext cx="100647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층 / 건축년도</a:t>
            </a:r>
            <a:endParaRPr lang="ko-KR" altLang="en-US" sz="9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0" name="Text 28"/>
          <p:cNvSpPr>
            <a:spLocks/>
          </p:cNvSpPr>
          <p:nvPr/>
        </p:nvSpPr>
        <p:spPr>
          <a:xfrm rot="0">
            <a:off x="1554480" y="3816350"/>
            <a:ext cx="270700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층 / 건축년도</a:t>
            </a:r>
            <a:endParaRPr lang="ko-KR" altLang="en-US" sz="9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1" name="Shape 29"/>
          <p:cNvSpPr>
            <a:spLocks/>
          </p:cNvSpPr>
          <p:nvPr/>
        </p:nvSpPr>
        <p:spPr>
          <a:xfrm rot="0">
            <a:off x="411480" y="4044950"/>
            <a:ext cx="3932555" cy="22923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2" name="Text 30"/>
          <p:cNvSpPr>
            <a:spLocks/>
          </p:cNvSpPr>
          <p:nvPr/>
        </p:nvSpPr>
        <p:spPr>
          <a:xfrm rot="0">
            <a:off x="502920" y="4044950"/>
            <a:ext cx="100647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자치구·법정동</a:t>
            </a:r>
            <a:endParaRPr lang="ko-KR" altLang="en-US" sz="9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3" name="Text 31"/>
          <p:cNvSpPr>
            <a:spLocks/>
          </p:cNvSpPr>
          <p:nvPr/>
        </p:nvSpPr>
        <p:spPr>
          <a:xfrm rot="0">
            <a:off x="1554480" y="4044950"/>
            <a:ext cx="270700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시군구 → 추출</a:t>
            </a:r>
            <a:endParaRPr lang="ko-KR" altLang="en-US" sz="9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4" name="Shape 32"/>
          <p:cNvSpPr>
            <a:spLocks/>
          </p:cNvSpPr>
          <p:nvPr/>
        </p:nvSpPr>
        <p:spPr>
          <a:xfrm rot="0">
            <a:off x="411480" y="4273550"/>
            <a:ext cx="3932555" cy="22923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Text 33"/>
          <p:cNvSpPr>
            <a:spLocks/>
          </p:cNvSpPr>
          <p:nvPr/>
        </p:nvSpPr>
        <p:spPr>
          <a:xfrm rot="0">
            <a:off x="502920" y="4273550"/>
            <a:ext cx="100647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단지명</a:t>
            </a:r>
            <a:endParaRPr lang="ko-KR" altLang="en-US" sz="9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6" name="Text 34"/>
          <p:cNvSpPr>
            <a:spLocks/>
          </p:cNvSpPr>
          <p:nvPr/>
        </p:nvSpPr>
        <p:spPr>
          <a:xfrm rot="0">
            <a:off x="1554480" y="4273550"/>
            <a:ext cx="270700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단지명</a:t>
            </a:r>
            <a:endParaRPr lang="ko-KR" altLang="en-US" sz="9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7" name="Shape 35"/>
          <p:cNvSpPr>
            <a:spLocks/>
          </p:cNvSpPr>
          <p:nvPr/>
        </p:nvSpPr>
        <p:spPr>
          <a:xfrm rot="0">
            <a:off x="411480" y="4502150"/>
            <a:ext cx="3932555" cy="22923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8" name="Text 36"/>
          <p:cNvSpPr>
            <a:spLocks/>
          </p:cNvSpPr>
          <p:nvPr/>
        </p:nvSpPr>
        <p:spPr>
          <a:xfrm rot="0">
            <a:off x="502920" y="4502150"/>
            <a:ext cx="100647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계약연도·월</a:t>
            </a:r>
            <a:endParaRPr lang="ko-KR" altLang="en-US" sz="9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9" name="Text 37"/>
          <p:cNvSpPr>
            <a:spLocks/>
          </p:cNvSpPr>
          <p:nvPr/>
        </p:nvSpPr>
        <p:spPr>
          <a:xfrm rot="0">
            <a:off x="1554480" y="4502150"/>
            <a:ext cx="270700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계약년월 → 파생</a:t>
            </a:r>
            <a:endParaRPr lang="ko-KR" altLang="en-US" sz="9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0" name="Shape 38"/>
          <p:cNvSpPr>
            <a:spLocks/>
          </p:cNvSpPr>
          <p:nvPr/>
        </p:nvSpPr>
        <p:spPr>
          <a:xfrm rot="0">
            <a:off x="411480" y="4730750"/>
            <a:ext cx="3932555" cy="22923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1" name="Text 39"/>
          <p:cNvSpPr>
            <a:spLocks/>
          </p:cNvSpPr>
          <p:nvPr/>
        </p:nvSpPr>
        <p:spPr>
          <a:xfrm rot="0">
            <a:off x="502920" y="4730750"/>
            <a:ext cx="100647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건물나이</a:t>
            </a:r>
            <a:endParaRPr lang="ko-KR" altLang="en-US" sz="9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2" name="Text 40"/>
          <p:cNvSpPr>
            <a:spLocks/>
          </p:cNvSpPr>
          <p:nvPr/>
        </p:nvSpPr>
        <p:spPr>
          <a:xfrm rot="0">
            <a:off x="1554480" y="4730750"/>
            <a:ext cx="270700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파생 변수</a:t>
            </a:r>
            <a:endParaRPr lang="ko-KR" altLang="en-US" sz="9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3" name="Shape 41"/>
          <p:cNvSpPr>
            <a:spLocks/>
          </p:cNvSpPr>
          <p:nvPr/>
        </p:nvSpPr>
        <p:spPr>
          <a:xfrm rot="0">
            <a:off x="4535170" y="1334770"/>
            <a:ext cx="19050" cy="3548380"/>
          </a:xfrm>
          <a:prstGeom prst="rect"/>
          <a:solidFill>
            <a:srgbClr val="D9E2E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736465" y="1371600"/>
            <a:ext cx="41148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파이프라인</a:t>
            </a:r>
            <a:endParaRPr lang="en-US" sz="1150" dirty="0"/>
          </a:p>
        </p:txBody>
      </p:sp>
      <p:sp>
        <p:nvSpPr>
          <p:cNvPr id="45" name="Shape 43"/>
          <p:cNvSpPr>
            <a:spLocks/>
          </p:cNvSpPr>
          <p:nvPr/>
        </p:nvSpPr>
        <p:spPr>
          <a:xfrm rot="0">
            <a:off x="4736465" y="1664335"/>
            <a:ext cx="2120265" cy="36639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6" name="Text 44"/>
          <p:cNvSpPr>
            <a:spLocks/>
          </p:cNvSpPr>
          <p:nvPr/>
        </p:nvSpPr>
        <p:spPr>
          <a:xfrm rot="0">
            <a:off x="4736465" y="1664335"/>
            <a:ext cx="2120265" cy="3663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50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CSV 통합</a:t>
            </a:r>
            <a:endParaRPr lang="ko-KR" altLang="en-US" sz="1050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7" name="Text 45"/>
          <p:cNvSpPr>
            <a:spLocks/>
          </p:cNvSpPr>
          <p:nvPr/>
        </p:nvSpPr>
        <p:spPr>
          <a:xfrm rot="0">
            <a:off x="4736465" y="2030095"/>
            <a:ext cx="2120265" cy="11049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↓</a:t>
            </a:r>
            <a:endParaRPr lang="ko-KR" altLang="en-US" sz="9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8" name="Shape 46"/>
          <p:cNvSpPr>
            <a:spLocks/>
          </p:cNvSpPr>
          <p:nvPr/>
        </p:nvSpPr>
        <p:spPr>
          <a:xfrm rot="0">
            <a:off x="4736465" y="2139950"/>
            <a:ext cx="2120265" cy="36639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9" name="Text 47"/>
          <p:cNvSpPr>
            <a:spLocks/>
          </p:cNvSpPr>
          <p:nvPr/>
        </p:nvSpPr>
        <p:spPr>
          <a:xfrm rot="0">
            <a:off x="4736465" y="2139950"/>
            <a:ext cx="2120265" cy="3663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50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변수 선택</a:t>
            </a:r>
            <a:endParaRPr lang="ko-KR" altLang="en-US" sz="1050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50" name="Text 48"/>
          <p:cNvSpPr>
            <a:spLocks/>
          </p:cNvSpPr>
          <p:nvPr/>
        </p:nvSpPr>
        <p:spPr>
          <a:xfrm rot="0">
            <a:off x="4736465" y="2505710"/>
            <a:ext cx="2120265" cy="11049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↓</a:t>
            </a:r>
            <a:endParaRPr lang="ko-KR" altLang="en-US" sz="9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1" name="Shape 49"/>
          <p:cNvSpPr>
            <a:spLocks/>
          </p:cNvSpPr>
          <p:nvPr/>
        </p:nvSpPr>
        <p:spPr>
          <a:xfrm rot="0">
            <a:off x="4736465" y="2614930"/>
            <a:ext cx="2120265" cy="366395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2" name="Text 50"/>
          <p:cNvSpPr>
            <a:spLocks/>
          </p:cNvSpPr>
          <p:nvPr/>
        </p:nvSpPr>
        <p:spPr>
          <a:xfrm rot="0">
            <a:off x="4736465" y="2614930"/>
            <a:ext cx="2120265" cy="3663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50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정제·결측 처리</a:t>
            </a:r>
            <a:endParaRPr lang="ko-KR" altLang="en-US" sz="1050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53" name="Text 51"/>
          <p:cNvSpPr>
            <a:spLocks/>
          </p:cNvSpPr>
          <p:nvPr/>
        </p:nvSpPr>
        <p:spPr>
          <a:xfrm rot="0">
            <a:off x="4736465" y="2980690"/>
            <a:ext cx="2120265" cy="11049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↓</a:t>
            </a:r>
            <a:endParaRPr lang="ko-KR" altLang="en-US" sz="9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4" name="Shape 52"/>
          <p:cNvSpPr>
            <a:spLocks/>
          </p:cNvSpPr>
          <p:nvPr/>
        </p:nvSpPr>
        <p:spPr>
          <a:xfrm rot="0">
            <a:off x="4736465" y="3090545"/>
            <a:ext cx="2120265" cy="366395"/>
          </a:xfrm>
          <a:prstGeom prst="rect"/>
          <a:solidFill>
            <a:srgbClr val="EBF4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5" name="Text 53"/>
          <p:cNvSpPr>
            <a:spLocks/>
          </p:cNvSpPr>
          <p:nvPr/>
        </p:nvSpPr>
        <p:spPr>
          <a:xfrm rot="0">
            <a:off x="4736465" y="3090545"/>
            <a:ext cx="2120265" cy="3663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50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파생 변수 생성</a:t>
            </a:r>
            <a:endParaRPr lang="ko-KR" altLang="en-US" sz="1050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56" name="Text 54"/>
          <p:cNvSpPr>
            <a:spLocks/>
          </p:cNvSpPr>
          <p:nvPr/>
        </p:nvSpPr>
        <p:spPr>
          <a:xfrm rot="0">
            <a:off x="4736465" y="3456305"/>
            <a:ext cx="2120265" cy="11049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↓</a:t>
            </a:r>
            <a:endParaRPr lang="ko-KR" altLang="en-US" sz="9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7" name="Shape 55"/>
          <p:cNvSpPr>
            <a:spLocks/>
          </p:cNvSpPr>
          <p:nvPr/>
        </p:nvSpPr>
        <p:spPr>
          <a:xfrm rot="0">
            <a:off x="4736465" y="3566160"/>
            <a:ext cx="2120265" cy="366395"/>
          </a:xfrm>
          <a:prstGeom prst="rect"/>
          <a:solidFill>
            <a:srgbClr val="EBF4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8" name="Text 56"/>
          <p:cNvSpPr>
            <a:spLocks/>
          </p:cNvSpPr>
          <p:nvPr/>
        </p:nvSpPr>
        <p:spPr>
          <a:xfrm rot="0">
            <a:off x="4736465" y="3566160"/>
            <a:ext cx="2120265" cy="3663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50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Label Encoding</a:t>
            </a:r>
            <a:endParaRPr lang="ko-KR" altLang="en-US" sz="1050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59" name="Text 57"/>
          <p:cNvSpPr>
            <a:spLocks/>
          </p:cNvSpPr>
          <p:nvPr/>
        </p:nvSpPr>
        <p:spPr>
          <a:xfrm rot="0">
            <a:off x="4736465" y="3931920"/>
            <a:ext cx="2120265" cy="11049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↓</a:t>
            </a:r>
            <a:endParaRPr lang="ko-KR" altLang="en-US" sz="9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0" name="Shape 58"/>
          <p:cNvSpPr>
            <a:spLocks/>
          </p:cNvSpPr>
          <p:nvPr/>
        </p:nvSpPr>
        <p:spPr>
          <a:xfrm rot="0">
            <a:off x="4736465" y="4041775"/>
            <a:ext cx="2120265" cy="366395"/>
          </a:xfrm>
          <a:prstGeom prst="rect"/>
          <a:solidFill>
            <a:srgbClr val="FFFFFF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1" name="Text 59"/>
          <p:cNvSpPr>
            <a:spLocks/>
          </p:cNvSpPr>
          <p:nvPr/>
        </p:nvSpPr>
        <p:spPr>
          <a:xfrm rot="0">
            <a:off x="4736465" y="4041775"/>
            <a:ext cx="2120265" cy="3663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5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모델 입력</a:t>
            </a:r>
            <a:endParaRPr lang="ko-KR" altLang="en-US" sz="1050" b="1">
              <a:solidFill>
                <a:srgbClr val="2F6FA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62" name="Text 60"/>
          <p:cNvSpPr>
            <a:spLocks/>
          </p:cNvSpPr>
          <p:nvPr/>
        </p:nvSpPr>
        <p:spPr>
          <a:xfrm rot="0">
            <a:off x="6965315" y="1391285"/>
            <a:ext cx="1573530" cy="25654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파생 변수 수식</a:t>
            </a:r>
            <a:endParaRPr lang="ko-KR" altLang="en-US" sz="10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63" name="Shape 61"/>
          <p:cNvSpPr>
            <a:spLocks/>
          </p:cNvSpPr>
          <p:nvPr/>
        </p:nvSpPr>
        <p:spPr>
          <a:xfrm rot="0">
            <a:off x="6948805" y="1664335"/>
            <a:ext cx="2052955" cy="45783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4" name="Text 62"/>
          <p:cNvSpPr>
            <a:spLocks/>
          </p:cNvSpPr>
          <p:nvPr/>
        </p:nvSpPr>
        <p:spPr>
          <a:xfrm rot="0">
            <a:off x="7028815" y="1664335"/>
            <a:ext cx="1901190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30000"/>
              </a:lnSpc>
              <a:buFontTx/>
              <a:buNone/>
            </a:pPr>
            <a:r>
              <a:rPr lang="en-US" sz="950">
                <a:solidFill>
                  <a:srgbClr val="17324D"/>
                </a:solidFill>
                <a:latin typeface="Consolas" charset="0"/>
                <a:ea typeface="Consolas" charset="0"/>
                <a:cs typeface="Consolas" charset="0"/>
              </a:rPr>
              <a:t>계약연도 = 계약년월 // 100</a:t>
            </a:r>
            <a:endParaRPr lang="ko-KR" altLang="en-US" sz="950">
              <a:solidFill>
                <a:srgbClr val="17324D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5" name="Shape 63"/>
          <p:cNvSpPr>
            <a:spLocks/>
          </p:cNvSpPr>
          <p:nvPr/>
        </p:nvSpPr>
        <p:spPr>
          <a:xfrm rot="0">
            <a:off x="6948805" y="2231390"/>
            <a:ext cx="2052955" cy="45783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6" name="Text 64"/>
          <p:cNvSpPr>
            <a:spLocks/>
          </p:cNvSpPr>
          <p:nvPr/>
        </p:nvSpPr>
        <p:spPr>
          <a:xfrm rot="0">
            <a:off x="7028815" y="2231390"/>
            <a:ext cx="1901190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30000"/>
              </a:lnSpc>
              <a:buFontTx/>
              <a:buNone/>
            </a:pPr>
            <a:r>
              <a:rPr lang="en-US" sz="950">
                <a:solidFill>
                  <a:srgbClr val="17324D"/>
                </a:solidFill>
                <a:latin typeface="Consolas" charset="0"/>
                <a:ea typeface="Consolas" charset="0"/>
                <a:cs typeface="Consolas" charset="0"/>
              </a:rPr>
              <a:t>계약월 = 계약년월 % 100</a:t>
            </a:r>
            <a:endParaRPr lang="ko-KR" altLang="en-US" sz="950">
              <a:solidFill>
                <a:srgbClr val="17324D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7" name="Shape 65"/>
          <p:cNvSpPr>
            <a:spLocks/>
          </p:cNvSpPr>
          <p:nvPr/>
        </p:nvSpPr>
        <p:spPr>
          <a:xfrm rot="0">
            <a:off x="6948805" y="2797810"/>
            <a:ext cx="2052955" cy="45783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8" name="Text 66"/>
          <p:cNvSpPr>
            <a:spLocks/>
          </p:cNvSpPr>
          <p:nvPr/>
        </p:nvSpPr>
        <p:spPr>
          <a:xfrm rot="0">
            <a:off x="7028815" y="2797810"/>
            <a:ext cx="1901190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30000"/>
              </a:lnSpc>
              <a:buFontTx/>
              <a:buNone/>
            </a:pPr>
            <a:r>
              <a:rPr lang="en-US" sz="950">
                <a:solidFill>
                  <a:srgbClr val="17324D"/>
                </a:solidFill>
                <a:latin typeface="Consolas" charset="0"/>
                <a:ea typeface="Consolas" charset="0"/>
                <a:cs typeface="Consolas" charset="0"/>
              </a:rPr>
              <a:t>건물나이 = 계약연도 − 건축년도</a:t>
            </a:r>
            <a:endParaRPr lang="ko-KR" altLang="en-US" sz="950">
              <a:solidFill>
                <a:srgbClr val="17324D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>
            <a:spLocks/>
          </p:cNvSpPr>
          <p:nvPr/>
        </p:nvSpPr>
        <p:spPr>
          <a:xfrm rot="0">
            <a:off x="411480" y="4449445"/>
            <a:ext cx="3932555" cy="412115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y  =  거래금액 (만원)</a:t>
            </a:r>
            <a:endParaRPr lang="ko-KR" altLang="en-US" sz="12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 및 실험 설계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19745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입력 변수로 거래금액을 예측하고, 5-Fold 교차검증으로 모델의 일반화 성능을 검증하였다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93192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 변수</a:t>
            </a:r>
            <a:endParaRPr lang="en-US" sz="1150" dirty="0"/>
          </a:p>
        </p:txBody>
      </p:sp>
      <p:sp>
        <p:nvSpPr>
          <p:cNvPr id="9" name="Shape 7"/>
          <p:cNvSpPr>
            <a:spLocks/>
          </p:cNvSpPr>
          <p:nvPr/>
        </p:nvSpPr>
        <p:spPr>
          <a:xfrm rot="0">
            <a:off x="411480" y="1664335"/>
            <a:ext cx="3932555" cy="2713990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225" y="1737360"/>
            <a:ext cx="3658235" cy="25654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5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X  (입력 변수  </a:t>
            </a:r>
            <a:r>
              <a:rPr lang="ko-KR" sz="105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:</a:t>
            </a:r>
            <a:r>
              <a:rPr lang="en-US" sz="1050" b="1">
                <a:solidFill>
                  <a:srgbClr val="2F6FA3"/>
                </a:solidFill>
                <a:latin typeface="Malgun Gothic" charset="0"/>
                <a:ea typeface="Malgun Gothic" charset="0"/>
                <a:cs typeface="Malgun Gothic" charset="0"/>
              </a:rPr>
              <a:t>  9개)</a:t>
            </a:r>
            <a:endParaRPr lang="ko-KR" altLang="en-US" sz="1050" b="1">
              <a:solidFill>
                <a:srgbClr val="2F6FA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1" name="Shape 9"/>
          <p:cNvSpPr>
            <a:spLocks/>
          </p:cNvSpPr>
          <p:nvPr/>
        </p:nvSpPr>
        <p:spPr>
          <a:xfrm rot="0">
            <a:off x="548640" y="2048510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48510"/>
            <a:ext cx="173736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전용면적</a:t>
            </a:r>
            <a:endParaRPr lang="en-US" sz="1100" dirty="0"/>
          </a:p>
        </p:txBody>
      </p:sp>
      <p:sp>
        <p:nvSpPr>
          <p:cNvPr id="13" name="Shape 11"/>
          <p:cNvSpPr>
            <a:spLocks/>
          </p:cNvSpPr>
          <p:nvPr/>
        </p:nvSpPr>
        <p:spPr>
          <a:xfrm rot="0">
            <a:off x="2468880" y="2048510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2048510"/>
            <a:ext cx="173736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</a:t>
            </a:r>
            <a:endParaRPr lang="en-US" sz="1100" dirty="0"/>
          </a:p>
        </p:txBody>
      </p:sp>
      <p:sp>
        <p:nvSpPr>
          <p:cNvPr id="15" name="Shape 13"/>
          <p:cNvSpPr>
            <a:spLocks/>
          </p:cNvSpPr>
          <p:nvPr/>
        </p:nvSpPr>
        <p:spPr>
          <a:xfrm rot="0">
            <a:off x="548640" y="2523490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548640" y="2523490"/>
            <a:ext cx="1737995" cy="34798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건축년도</a:t>
            </a:r>
            <a:endParaRPr lang="ko-KR" altLang="en-US" sz="11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Shape 15"/>
          <p:cNvSpPr>
            <a:spLocks/>
          </p:cNvSpPr>
          <p:nvPr/>
        </p:nvSpPr>
        <p:spPr>
          <a:xfrm rot="0">
            <a:off x="2468880" y="2523490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468880" y="2523490"/>
            <a:ext cx="173736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건물나이</a:t>
            </a:r>
            <a:endParaRPr lang="en-US" sz="1100" dirty="0"/>
          </a:p>
        </p:txBody>
      </p:sp>
      <p:sp>
        <p:nvSpPr>
          <p:cNvPr id="19" name="Shape 17"/>
          <p:cNvSpPr>
            <a:spLocks/>
          </p:cNvSpPr>
          <p:nvPr/>
        </p:nvSpPr>
        <p:spPr>
          <a:xfrm rot="0">
            <a:off x="548640" y="2999105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0" name="Text 18"/>
          <p:cNvSpPr>
            <a:spLocks/>
          </p:cNvSpPr>
          <p:nvPr/>
        </p:nvSpPr>
        <p:spPr>
          <a:xfrm rot="0">
            <a:off x="548640" y="2999105"/>
            <a:ext cx="1737995" cy="34798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계약연도</a:t>
            </a:r>
            <a:endParaRPr lang="ko-KR" altLang="en-US" sz="11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1" name="Shape 19"/>
          <p:cNvSpPr>
            <a:spLocks/>
          </p:cNvSpPr>
          <p:nvPr/>
        </p:nvSpPr>
        <p:spPr>
          <a:xfrm rot="0">
            <a:off x="2468880" y="2999105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468880" y="2999105"/>
            <a:ext cx="173736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계약월</a:t>
            </a:r>
            <a:endParaRPr lang="en-US" sz="1100" dirty="0"/>
          </a:p>
        </p:txBody>
      </p:sp>
      <p:sp>
        <p:nvSpPr>
          <p:cNvPr id="23" name="Shape 21"/>
          <p:cNvSpPr>
            <a:spLocks/>
          </p:cNvSpPr>
          <p:nvPr/>
        </p:nvSpPr>
        <p:spPr>
          <a:xfrm rot="0">
            <a:off x="548640" y="3474720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4" name="Text 22"/>
          <p:cNvSpPr>
            <a:spLocks/>
          </p:cNvSpPr>
          <p:nvPr/>
        </p:nvSpPr>
        <p:spPr>
          <a:xfrm rot="0">
            <a:off x="548640" y="3474720"/>
            <a:ext cx="1737995" cy="34798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자치구</a:t>
            </a:r>
            <a:endParaRPr lang="ko-KR" altLang="en-US" sz="11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5" name="Shape 23"/>
          <p:cNvSpPr>
            <a:spLocks/>
          </p:cNvSpPr>
          <p:nvPr/>
        </p:nvSpPr>
        <p:spPr>
          <a:xfrm rot="0">
            <a:off x="2468880" y="3474720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468880" y="3474720"/>
            <a:ext cx="173736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법정동</a:t>
            </a:r>
            <a:endParaRPr lang="en-US" sz="1100" dirty="0"/>
          </a:p>
        </p:txBody>
      </p:sp>
      <p:sp>
        <p:nvSpPr>
          <p:cNvPr id="27" name="Shape 25"/>
          <p:cNvSpPr>
            <a:spLocks/>
          </p:cNvSpPr>
          <p:nvPr/>
        </p:nvSpPr>
        <p:spPr>
          <a:xfrm rot="0">
            <a:off x="548640" y="3950335"/>
            <a:ext cx="1737995" cy="34798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950335"/>
            <a:ext cx="173736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단지명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35170" y="1334770"/>
            <a:ext cx="18415" cy="35661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465" y="1371600"/>
            <a:ext cx="41148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36465" y="1664335"/>
            <a:ext cx="41148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700530"/>
            <a:ext cx="3840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분리</a:t>
            </a:r>
            <a:endParaRPr lang="en-US" sz="1000" dirty="0"/>
          </a:p>
        </p:txBody>
      </p:sp>
      <p:sp>
        <p:nvSpPr>
          <p:cNvPr id="35" name="Shape 33"/>
          <p:cNvSpPr>
            <a:spLocks/>
          </p:cNvSpPr>
          <p:nvPr/>
        </p:nvSpPr>
        <p:spPr>
          <a:xfrm rot="0">
            <a:off x="4846320" y="1938655"/>
            <a:ext cx="2451100" cy="293370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46320" y="1938655"/>
            <a:ext cx="245046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 80%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04050" y="1938655"/>
            <a:ext cx="1645920" cy="292735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465" y="1938655"/>
            <a:ext cx="166433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 20%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36465" y="2414270"/>
            <a:ext cx="4114800" cy="65849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450465"/>
            <a:ext cx="3840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Cross 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688590"/>
            <a:ext cx="71310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688590"/>
            <a:ext cx="713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2688590"/>
            <a:ext cx="71310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2688590"/>
            <a:ext cx="713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2688590"/>
            <a:ext cx="71310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688590"/>
            <a:ext cx="713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78040" y="2688590"/>
            <a:ext cx="71310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688590"/>
            <a:ext cx="713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55280" y="2688590"/>
            <a:ext cx="713105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2688590"/>
            <a:ext cx="713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36465" y="3145790"/>
            <a:ext cx="41148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하이퍼파라미터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736465" y="3437890"/>
            <a:ext cx="4114800" cy="255905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7905" y="3437890"/>
            <a:ext cx="22860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05345" y="3437890"/>
            <a:ext cx="155448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36465" y="3694430"/>
            <a:ext cx="4114800" cy="21971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7905" y="3694430"/>
            <a:ext cx="228600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05345" y="3694430"/>
            <a:ext cx="1554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36465" y="3913505"/>
            <a:ext cx="4114800" cy="21971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7905" y="3913505"/>
            <a:ext cx="228600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05345" y="3913505"/>
            <a:ext cx="1554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36465" y="4133215"/>
            <a:ext cx="4114800" cy="21971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7905" y="4133215"/>
            <a:ext cx="228600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205345" y="4133215"/>
            <a:ext cx="1554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36465" y="4352290"/>
            <a:ext cx="4114800" cy="21971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7905" y="4352290"/>
            <a:ext cx="228600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205345" y="4352290"/>
            <a:ext cx="1554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36465" y="4572000"/>
            <a:ext cx="4114800" cy="21971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7905" y="4572000"/>
            <a:ext cx="228600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colsample_bytree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205345" y="4572000"/>
            <a:ext cx="1554480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736465" y="4791710"/>
            <a:ext cx="4114800" cy="255905"/>
          </a:xfrm>
          <a:prstGeom prst="rect">
            <a:avLst/>
          </a:prstGeom>
          <a:solidFill>
            <a:srgbClr val="EB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27905" y="4791710"/>
            <a:ext cx="393192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 :  R²   MAE   RMSE   5-Fold CV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 : XGBoost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19745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결정트리를 순차 학습하며 이전 트리의 오차를 보완하는 앙상블 부스팅 알고리즘을 사용하였다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8321040" cy="56705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71600"/>
            <a:ext cx="45720" cy="567055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7055" y="1390015"/>
            <a:ext cx="8120380" cy="53086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30000"/>
              </a:lnSpc>
              <a:buFontTx/>
              <a:buNone/>
            </a:pPr>
            <a:r>
              <a:rPr lang="en-US" sz="11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XGBoost(eXtreme Gradient Boosting)는 여러 결정트리를 순차적으로 학습하며, 이전 트리의 오차를 다음 트리가 보완하는 앙상블 부스팅 알고리즘이다. 비선형 관계와 변수 간 상호작용을 효과적으로 학습한다.</a:t>
            </a:r>
            <a:endParaRPr lang="ko-KR" altLang="en-US" sz="11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066290"/>
            <a:ext cx="83210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 구조</a:t>
            </a:r>
            <a:endParaRPr lang="en-US" sz="1150" dirty="0"/>
          </a:p>
        </p:txBody>
      </p:sp>
      <p:sp>
        <p:nvSpPr>
          <p:cNvPr id="12" name="Shape 10"/>
          <p:cNvSpPr>
            <a:spLocks/>
          </p:cNvSpPr>
          <p:nvPr/>
        </p:nvSpPr>
        <p:spPr>
          <a:xfrm rot="0">
            <a:off x="543560" y="2382520"/>
            <a:ext cx="1299210" cy="622300"/>
          </a:xfrm>
          <a:prstGeom prst="rect"/>
          <a:solidFill>
            <a:srgbClr val="FFFFFF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3" name="Text 11"/>
          <p:cNvSpPr>
            <a:spLocks/>
          </p:cNvSpPr>
          <p:nvPr/>
        </p:nvSpPr>
        <p:spPr>
          <a:xfrm rot="0">
            <a:off x="543560" y="2382520"/>
            <a:ext cx="129921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sz="12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Tree 1</a:t>
            </a:r>
            <a:endParaRPr lang="ko-KR" altLang="en-US" sz="12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4" name="Text 12"/>
          <p:cNvSpPr>
            <a:spLocks/>
          </p:cNvSpPr>
          <p:nvPr/>
        </p:nvSpPr>
        <p:spPr>
          <a:xfrm rot="0">
            <a:off x="1842135" y="2382520"/>
            <a:ext cx="34798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6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→</a:t>
            </a:r>
            <a:endParaRPr lang="ko-KR" altLang="en-US" sz="16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13"/>
          <p:cNvSpPr>
            <a:spLocks/>
          </p:cNvSpPr>
          <p:nvPr/>
        </p:nvSpPr>
        <p:spPr>
          <a:xfrm rot="0">
            <a:off x="1842135" y="2414270"/>
            <a:ext cx="347980" cy="1651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7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오차 보완</a:t>
            </a:r>
            <a:endParaRPr lang="ko-KR" altLang="en-US" sz="7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6" name="Shape 14"/>
          <p:cNvSpPr>
            <a:spLocks/>
          </p:cNvSpPr>
          <p:nvPr/>
        </p:nvSpPr>
        <p:spPr>
          <a:xfrm rot="0">
            <a:off x="2189480" y="2382520"/>
            <a:ext cx="1299210" cy="622300"/>
          </a:xfrm>
          <a:prstGeom prst="rect"/>
          <a:solidFill>
            <a:srgbClr val="FFFFFF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7" name="Text 15"/>
          <p:cNvSpPr>
            <a:spLocks/>
          </p:cNvSpPr>
          <p:nvPr/>
        </p:nvSpPr>
        <p:spPr>
          <a:xfrm rot="0">
            <a:off x="2189480" y="2382520"/>
            <a:ext cx="129921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sz="12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Tree 2</a:t>
            </a:r>
            <a:endParaRPr lang="ko-KR" altLang="en-US" sz="12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8" name="Text 16"/>
          <p:cNvSpPr>
            <a:spLocks/>
          </p:cNvSpPr>
          <p:nvPr/>
        </p:nvSpPr>
        <p:spPr>
          <a:xfrm rot="0">
            <a:off x="3488055" y="2382520"/>
            <a:ext cx="34798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6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→</a:t>
            </a:r>
            <a:endParaRPr lang="ko-KR" altLang="en-US" sz="16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17"/>
          <p:cNvSpPr>
            <a:spLocks/>
          </p:cNvSpPr>
          <p:nvPr/>
        </p:nvSpPr>
        <p:spPr>
          <a:xfrm rot="0">
            <a:off x="3488055" y="2414270"/>
            <a:ext cx="347980" cy="1651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7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오차 보완</a:t>
            </a:r>
            <a:endParaRPr lang="ko-KR" altLang="en-US" sz="7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0" name="Shape 18"/>
          <p:cNvSpPr>
            <a:spLocks/>
          </p:cNvSpPr>
          <p:nvPr/>
        </p:nvSpPr>
        <p:spPr>
          <a:xfrm rot="0">
            <a:off x="3835400" y="2382520"/>
            <a:ext cx="1299210" cy="622300"/>
          </a:xfrm>
          <a:prstGeom prst="rect"/>
          <a:solidFill>
            <a:srgbClr val="FFFFFF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1" name="Text 19"/>
          <p:cNvSpPr>
            <a:spLocks/>
          </p:cNvSpPr>
          <p:nvPr/>
        </p:nvSpPr>
        <p:spPr>
          <a:xfrm rot="0">
            <a:off x="3835400" y="2382520"/>
            <a:ext cx="129921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sz="12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Tree 3</a:t>
            </a:r>
            <a:endParaRPr lang="ko-KR" altLang="en-US" sz="12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2" name="Text 20"/>
          <p:cNvSpPr>
            <a:spLocks/>
          </p:cNvSpPr>
          <p:nvPr/>
        </p:nvSpPr>
        <p:spPr>
          <a:xfrm rot="0">
            <a:off x="5133975" y="2382520"/>
            <a:ext cx="34798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6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→</a:t>
            </a:r>
            <a:endParaRPr lang="ko-KR" altLang="en-US" sz="16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21"/>
          <p:cNvSpPr>
            <a:spLocks/>
          </p:cNvSpPr>
          <p:nvPr/>
        </p:nvSpPr>
        <p:spPr>
          <a:xfrm rot="0">
            <a:off x="5133975" y="2414270"/>
            <a:ext cx="347980" cy="1651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7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오차 보완</a:t>
            </a:r>
            <a:endParaRPr lang="ko-KR" altLang="en-US" sz="7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4" name="Shape 22"/>
          <p:cNvSpPr>
            <a:spLocks/>
          </p:cNvSpPr>
          <p:nvPr/>
        </p:nvSpPr>
        <p:spPr>
          <a:xfrm rot="0">
            <a:off x="5481320" y="2382520"/>
            <a:ext cx="1299210" cy="622300"/>
          </a:xfrm>
          <a:prstGeom prst="rect"/>
          <a:solidFill>
            <a:srgbClr val="FFFFFF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5" name="Text 23"/>
          <p:cNvSpPr>
            <a:spLocks/>
          </p:cNvSpPr>
          <p:nvPr/>
        </p:nvSpPr>
        <p:spPr>
          <a:xfrm rot="0">
            <a:off x="5481320" y="2382520"/>
            <a:ext cx="129921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sz="12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···  Tree N</a:t>
            </a:r>
            <a:endParaRPr lang="ko-KR" altLang="en-US" sz="12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6" name="Text 24"/>
          <p:cNvSpPr>
            <a:spLocks/>
          </p:cNvSpPr>
          <p:nvPr/>
        </p:nvSpPr>
        <p:spPr>
          <a:xfrm rot="0">
            <a:off x="6779895" y="2382520"/>
            <a:ext cx="34798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600">
                <a:solidFill>
                  <a:srgbClr val="64748B"/>
                </a:solidFill>
                <a:latin typeface="Calibri" charset="0"/>
                <a:ea typeface="Calibri" charset="0"/>
                <a:cs typeface="Calibri" charset="0"/>
              </a:rPr>
              <a:t>→</a:t>
            </a:r>
            <a:endParaRPr lang="ko-KR" altLang="en-US" sz="1600">
              <a:solidFill>
                <a:srgbClr val="64748B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Shape 25"/>
          <p:cNvSpPr>
            <a:spLocks/>
          </p:cNvSpPr>
          <p:nvPr/>
        </p:nvSpPr>
        <p:spPr>
          <a:xfrm rot="0">
            <a:off x="7127240" y="2382520"/>
            <a:ext cx="1299210" cy="622300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8" name="Text 26"/>
          <p:cNvSpPr>
            <a:spLocks/>
          </p:cNvSpPr>
          <p:nvPr/>
        </p:nvSpPr>
        <p:spPr>
          <a:xfrm rot="0">
            <a:off x="7127240" y="2382520"/>
            <a:ext cx="1299210" cy="62230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sz="105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최종</a:t>
            </a:r>
            <a:endParaRPr lang="ko-KR" altLang="en-US" sz="105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sz="105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예측값</a:t>
            </a:r>
            <a:endParaRPr lang="ko-KR" altLang="en-US" sz="105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9" name="Text 27"/>
          <p:cNvSpPr>
            <a:spLocks/>
          </p:cNvSpPr>
          <p:nvPr/>
        </p:nvSpPr>
        <p:spPr>
          <a:xfrm rot="0">
            <a:off x="411480" y="3147060"/>
            <a:ext cx="8321675" cy="25654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5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XGBoost 선택 이유</a:t>
            </a:r>
            <a:endParaRPr lang="ko-KR" altLang="en-US" sz="115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0" name="Shape 28"/>
          <p:cNvSpPr>
            <a:spLocks/>
          </p:cNvSpPr>
          <p:nvPr/>
        </p:nvSpPr>
        <p:spPr>
          <a:xfrm rot="0">
            <a:off x="411480" y="3475990"/>
            <a:ext cx="4069715" cy="67754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1" name="Shape 29"/>
          <p:cNvSpPr>
            <a:spLocks/>
          </p:cNvSpPr>
          <p:nvPr/>
        </p:nvSpPr>
        <p:spPr>
          <a:xfrm rot="0">
            <a:off x="411480" y="3475990"/>
            <a:ext cx="46355" cy="677545"/>
          </a:xfrm>
          <a:prstGeom prst="rect"/>
          <a:solidFill>
            <a:srgbClr val="2F6FA3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2" name="Text 30"/>
          <p:cNvSpPr>
            <a:spLocks/>
          </p:cNvSpPr>
          <p:nvPr/>
        </p:nvSpPr>
        <p:spPr>
          <a:xfrm rot="0">
            <a:off x="557530" y="3531235"/>
            <a:ext cx="3822700" cy="23812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비선형 관계 반영</a:t>
            </a:r>
            <a:endParaRPr lang="ko-KR" altLang="en-US" sz="11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3" name="Text 31"/>
          <p:cNvSpPr>
            <a:spLocks/>
          </p:cNvSpPr>
          <p:nvPr/>
        </p:nvSpPr>
        <p:spPr>
          <a:xfrm rot="0">
            <a:off x="557530" y="3787140"/>
            <a:ext cx="3822700" cy="2933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면적·층수 등 가격 변수 간 복잡한 비선형 관계를 트리 구조로 포착</a:t>
            </a:r>
            <a:endParaRPr lang="ko-KR" altLang="en-US" sz="9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4" name="Shape 32"/>
          <p:cNvSpPr>
            <a:spLocks/>
          </p:cNvSpPr>
          <p:nvPr/>
        </p:nvSpPr>
        <p:spPr>
          <a:xfrm rot="0">
            <a:off x="4617720" y="3475990"/>
            <a:ext cx="4069715" cy="67754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Shape 33"/>
          <p:cNvSpPr>
            <a:spLocks/>
          </p:cNvSpPr>
          <p:nvPr/>
        </p:nvSpPr>
        <p:spPr>
          <a:xfrm rot="0">
            <a:off x="4617720" y="3475990"/>
            <a:ext cx="46355" cy="677545"/>
          </a:xfrm>
          <a:prstGeom prst="rect"/>
          <a:solidFill>
            <a:srgbClr val="2F6FA3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6" name="Text 34"/>
          <p:cNvSpPr>
            <a:spLocks/>
          </p:cNvSpPr>
          <p:nvPr/>
        </p:nvSpPr>
        <p:spPr>
          <a:xfrm rot="0">
            <a:off x="4763770" y="3531235"/>
            <a:ext cx="3822700" cy="23812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변수 간 상호작용 학습</a:t>
            </a:r>
            <a:endParaRPr lang="ko-KR" altLang="en-US" sz="11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7" name="Text 35"/>
          <p:cNvSpPr>
            <a:spLocks/>
          </p:cNvSpPr>
          <p:nvPr/>
        </p:nvSpPr>
        <p:spPr>
          <a:xfrm rot="0">
            <a:off x="4763770" y="3787140"/>
            <a:ext cx="3822700" cy="2933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자치구 × 전용면적처럼 변수 조합의 효과를 자동으로 학습</a:t>
            </a:r>
            <a:endParaRPr lang="ko-KR" altLang="en-US" sz="9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8" name="Shape 36"/>
          <p:cNvSpPr>
            <a:spLocks/>
          </p:cNvSpPr>
          <p:nvPr/>
        </p:nvSpPr>
        <p:spPr>
          <a:xfrm rot="0">
            <a:off x="411480" y="4225925"/>
            <a:ext cx="4069715" cy="67754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9" name="Shape 37"/>
          <p:cNvSpPr>
            <a:spLocks/>
          </p:cNvSpPr>
          <p:nvPr/>
        </p:nvSpPr>
        <p:spPr>
          <a:xfrm rot="0">
            <a:off x="411480" y="4225925"/>
            <a:ext cx="46355" cy="677545"/>
          </a:xfrm>
          <a:prstGeom prst="rect"/>
          <a:solidFill>
            <a:srgbClr val="2F6FA3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0" name="Text 38"/>
          <p:cNvSpPr>
            <a:spLocks/>
          </p:cNvSpPr>
          <p:nvPr/>
        </p:nvSpPr>
        <p:spPr>
          <a:xfrm rot="0">
            <a:off x="557530" y="4281170"/>
            <a:ext cx="3822700" cy="23812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변수 중요도 제공</a:t>
            </a:r>
            <a:endParaRPr lang="ko-KR" altLang="en-US" sz="11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1" name="Text 39"/>
          <p:cNvSpPr>
            <a:spLocks/>
          </p:cNvSpPr>
          <p:nvPr/>
        </p:nvSpPr>
        <p:spPr>
          <a:xfrm rot="0">
            <a:off x="557530" y="4537075"/>
            <a:ext cx="3822700" cy="2933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예측 기여도를 정량화하여 핵심 가격 결정 요인 해석 가능</a:t>
            </a:r>
            <a:endParaRPr lang="ko-KR" altLang="en-US" sz="9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2" name="Shape 40"/>
          <p:cNvSpPr>
            <a:spLocks/>
          </p:cNvSpPr>
          <p:nvPr/>
        </p:nvSpPr>
        <p:spPr>
          <a:xfrm rot="0">
            <a:off x="4617720" y="4225925"/>
            <a:ext cx="4069715" cy="677545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3" name="Shape 41"/>
          <p:cNvSpPr>
            <a:spLocks/>
          </p:cNvSpPr>
          <p:nvPr/>
        </p:nvSpPr>
        <p:spPr>
          <a:xfrm rot="0">
            <a:off x="4617720" y="4225925"/>
            <a:ext cx="46355" cy="677545"/>
          </a:xfrm>
          <a:prstGeom prst="rect"/>
          <a:solidFill>
            <a:srgbClr val="2F6FA3"/>
          </a:solidFill>
          <a:ln w="12700" cap="flat" cmpd="sng">
            <a:solidFill>
              <a:srgbClr val="2F6FA3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4" name="Text 42"/>
          <p:cNvSpPr>
            <a:spLocks/>
          </p:cNvSpPr>
          <p:nvPr/>
        </p:nvSpPr>
        <p:spPr>
          <a:xfrm rot="0">
            <a:off x="4763770" y="4281170"/>
            <a:ext cx="3822700" cy="23812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부동산 가격 예측에 적합</a:t>
            </a:r>
            <a:endParaRPr lang="ko-KR" altLang="en-US" sz="110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5" name="Text 43"/>
          <p:cNvSpPr>
            <a:spLocks/>
          </p:cNvSpPr>
          <p:nvPr/>
        </p:nvSpPr>
        <p:spPr>
          <a:xfrm rot="0">
            <a:off x="4763770" y="4537075"/>
            <a:ext cx="3822700" cy="2933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50">
                <a:solidFill>
                  <a:srgbClr val="64748B"/>
                </a:solidFill>
                <a:latin typeface="Malgun Gothic" charset="0"/>
                <a:ea typeface="Malgun Gothic" charset="0"/>
                <a:cs typeface="Malgun Gothic" charset="0"/>
              </a:rPr>
              <a:t>다수의 명목·연속형 변수가 혼재하는 데이터 구조에 최적</a:t>
            </a:r>
            <a:endParaRPr lang="ko-KR" altLang="en-US" sz="950">
              <a:solidFill>
                <a:srgbClr val="64748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거래 탐지 방법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19745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예측가격과 실제 거래가격의 차이인 잔차를 이용하여, 가격 패턴에서 벗어난 거래를 후보로 선별하였다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682750"/>
            <a:ext cx="2633345" cy="84137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2633345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예측가격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57070"/>
            <a:ext cx="2633345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ŷᵢ  =  f(xᵢ)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27705" y="1682750"/>
            <a:ext cx="2633345" cy="84137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705" y="1737360"/>
            <a:ext cx="2633345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  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705" y="1957070"/>
            <a:ext cx="2633345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eᵢ  =  yᵢ  −  ŷᵢ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43930" y="1682750"/>
            <a:ext cx="2633345" cy="84137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3930" y="1737360"/>
            <a:ext cx="2633345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절대잔차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43930" y="1957070"/>
            <a:ext cx="2633345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|eᵢ|  =  |yᵢ  −  ŷᵢ|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2651760"/>
            <a:ext cx="83210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절차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2980690"/>
            <a:ext cx="1874520" cy="1481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865" y="3054350"/>
            <a:ext cx="530225" cy="530225"/>
          </a:xfrm>
          <a:prstGeom prst="ellipse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865" y="3054350"/>
            <a:ext cx="530225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639185"/>
            <a:ext cx="170053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예측가격 산출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913505"/>
            <a:ext cx="1700530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189,864건에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대해 ŷᵢ = f(xᵢ) 계산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620770"/>
            <a:ext cx="29273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78735" y="2980690"/>
            <a:ext cx="1874520" cy="1481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054350"/>
            <a:ext cx="530225" cy="530225"/>
          </a:xfrm>
          <a:prstGeom prst="ellipse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054350"/>
            <a:ext cx="530225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70175" y="3639185"/>
            <a:ext cx="170053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계산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70175" y="3913505"/>
            <a:ext cx="1700530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eᵢ = yᵢ − ŷᵢ 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산출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53255" y="3620770"/>
            <a:ext cx="29273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45990" y="2980690"/>
            <a:ext cx="1874520" cy="1481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375" y="3054350"/>
            <a:ext cx="530225" cy="530225"/>
          </a:xfrm>
          <a:prstGeom prst="ellipse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375" y="3054350"/>
            <a:ext cx="530225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37430" y="3639185"/>
            <a:ext cx="170053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절대잔차 정렬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430" y="3913505"/>
            <a:ext cx="1700530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|eᵢ| 기준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내림차순 정렬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20510" y="3620770"/>
            <a:ext cx="29273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12610" y="2980690"/>
            <a:ext cx="1874520" cy="1481455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0630" y="3054350"/>
            <a:ext cx="530225" cy="53022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0630" y="3054350"/>
            <a:ext cx="530225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04050" y="3639185"/>
            <a:ext cx="170053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04050" y="3913505"/>
            <a:ext cx="1700530" cy="4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D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922건을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D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거래 후보로 선별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572000"/>
            <a:ext cx="8321040" cy="42037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572000"/>
            <a:ext cx="45720" cy="420370"/>
          </a:xfrm>
          <a:prstGeom prst="rect">
            <a:avLst/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7055" y="4572000"/>
            <a:ext cx="8119745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거래 후보  </a:t>
            </a:r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 |eᵢ| 기준 상위 </a:t>
            </a:r>
            <a:pPr algn="l" indent="0" marL="0">
              <a:buNone/>
            </a:pPr>
            <a:r>
              <a:rPr lang="en-US" sz="1100" b="1" dirty="0">
                <a:solidFill>
                  <a:srgbClr val="D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922건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이상 거래 후보 선정이며, 불법 거래 확정이 아님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19745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서울시 부동산 거래가격의 변동을 비교적 높은 수준으로 설명하였으며, 전용면적과 자치구가 주요 설명 변수로 나타났다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2084705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71600"/>
            <a:ext cx="2084705" cy="4572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615" y="1444625"/>
            <a:ext cx="195707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평균 R²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615" y="1682750"/>
            <a:ext cx="1957070" cy="65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615" y="2340610"/>
            <a:ext cx="195707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비교적 높은 설명력을 보임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71470"/>
            <a:ext cx="2084705" cy="1024255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71470"/>
            <a:ext cx="2084705" cy="45720"/>
          </a:xfrm>
          <a:prstGeom prst="rect">
            <a:avLst/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615" y="2944495"/>
            <a:ext cx="195707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거래 후보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615" y="3163570"/>
            <a:ext cx="195707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922건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615" y="3639185"/>
            <a:ext cx="1957070" cy="201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|eᵢ| 기준 상위 선별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1371600"/>
            <a:ext cx="608076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거래가격 vs 예측가격</a:t>
            </a:r>
            <a:endParaRPr lang="en-US" sz="1050" dirty="0"/>
          </a:p>
        </p:txBody>
      </p:sp>
      <p:sp>
        <p:nvSpPr>
          <p:cNvPr id="20" name="Text 17"/>
          <p:cNvSpPr>
            <a:spLocks/>
          </p:cNvSpPr>
          <p:nvPr/>
        </p:nvSpPr>
        <p:spPr>
          <a:xfrm rot="0">
            <a:off x="5789930" y="1372235"/>
            <a:ext cx="1026160" cy="2203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50" b="1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변수 중요도</a:t>
            </a:r>
            <a:endParaRPr lang="ko-KR" altLang="en-US" sz="1050" b="1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2" name="Text 18"/>
          <p:cNvSpPr>
            <a:spLocks/>
          </p:cNvSpPr>
          <p:nvPr/>
        </p:nvSpPr>
        <p:spPr>
          <a:xfrm rot="0">
            <a:off x="5688965" y="3999230"/>
            <a:ext cx="3633470" cy="54927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35000"/>
              </a:lnSpc>
              <a:buFontTx/>
              <a:buNone/>
            </a:pPr>
            <a:r>
              <a:rPr lang="en-US" sz="1100">
                <a:solidFill>
                  <a:srgbClr val="2B2B2B"/>
                </a:solidFill>
                <a:latin typeface="Malgun Gothic" charset="0"/>
                <a:ea typeface="Malgun Gothic" charset="0"/>
                <a:cs typeface="Malgun Gothic" charset="0"/>
              </a:rPr>
              <a:t>→  전용면적과 자치구가 주요 설명 변수로 나타났다.</a:t>
            </a:r>
            <a:endParaRPr lang="ko-KR" altLang="en-US" sz="1100">
              <a:solidFill>
                <a:srgbClr val="2B2B2B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3" name="그림 2" descr="C:/Users/y2l10/AppData/Roaming/PolarisOffice/ETemp/28892_15227896/fImage320380381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45715" y="1609090"/>
            <a:ext cx="3223260" cy="2402205"/>
          </a:xfrm>
          <a:prstGeom prst="rect"/>
          <a:noFill/>
        </p:spPr>
      </p:pic>
      <p:pic>
        <p:nvPicPr>
          <p:cNvPr id="24" name="그림 3" descr="C:/Users/y2l10/AppData/Roaming/PolarisOffice/ETemp/28892_15227896/fImage1090033828467.png"/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99125" y="1595755"/>
            <a:ext cx="3216275" cy="23850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46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향후 연구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49935"/>
            <a:ext cx="8321040" cy="18415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545"/>
            <a:ext cx="8321040" cy="40259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545"/>
            <a:ext cx="45720" cy="40259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7055" y="804545"/>
            <a:ext cx="8119745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기반 가격 예측 모델을 구축하고, 잔차 분석으로 이상 거래 후보를 선별하여 가격 적정성 검토의 보조 지표로 활용 가능성을 확인하였다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53185"/>
            <a:ext cx="109728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8321040" cy="749935"/>
          </a:xfrm>
          <a:prstGeom prst="rect">
            <a:avLst/>
          </a:prstGeom>
          <a:solidFill>
            <a:srgbClr val="EB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45920"/>
            <a:ext cx="45720" cy="749935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055" y="1664335"/>
            <a:ext cx="8120380" cy="71374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lnSpc>
                <a:spcPct val="145000"/>
              </a:lnSpc>
              <a:buFontTx/>
              <a:buNone/>
            </a:pPr>
            <a:r>
              <a:rPr lang="en-US" sz="1100">
                <a:solidFill>
                  <a:srgbClr val="17324D"/>
                </a:solidFill>
                <a:latin typeface="Malgun Gothic" charset="0"/>
                <a:ea typeface="Malgun Gothic" charset="0"/>
                <a:cs typeface="Malgun Gothic" charset="0"/>
              </a:rPr>
              <a:t>XGBoost 기반 가격 예측 모델을 구축함  ·  잔차 기반 방식으로 이상 거래 후보 922건을 선별함  ·  가격 적정성 검토 보조 </a:t>
            </a:r>
            <a:endParaRPr lang="ko-KR" altLang="en-US" sz="1100">
              <a:solidFill>
                <a:srgbClr val="17324D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523490"/>
            <a:ext cx="39776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한계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34640"/>
            <a:ext cx="3683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53055"/>
            <a:ext cx="37674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접근성, 학군, 금리, 개발 호재,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리모델링 여부 등 외부 변수 미반영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456305"/>
            <a:ext cx="397764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56305"/>
            <a:ext cx="3683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74720"/>
            <a:ext cx="37674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거래의 원인을 직접 확정하기 어려움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77970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077970"/>
            <a:ext cx="3683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96385"/>
            <a:ext cx="37674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Encoding 적용으로 범주 간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관계가 임의로 부여될 수 있음</a:t>
            </a:r>
            <a:endParaRPr lang="en-US" sz="1050" dirty="0"/>
          </a:p>
        </p:txBody>
      </p:sp>
      <p:sp>
        <p:nvSpPr>
          <p:cNvPr id="22" name="Shape 20"/>
          <p:cNvSpPr>
            <a:spLocks/>
          </p:cNvSpPr>
          <p:nvPr/>
        </p:nvSpPr>
        <p:spPr>
          <a:xfrm rot="0">
            <a:off x="4535170" y="2487295"/>
            <a:ext cx="19050" cy="2235835"/>
          </a:xfrm>
          <a:prstGeom prst="rect"/>
          <a:solidFill>
            <a:srgbClr val="D9E2E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36465" y="2523490"/>
            <a:ext cx="41148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 방향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36465" y="2834640"/>
            <a:ext cx="4114800" cy="585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465" y="2834640"/>
            <a:ext cx="36830" cy="58547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735" y="2880360"/>
            <a:ext cx="391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변수 확장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735" y="3127375"/>
            <a:ext cx="391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교통·학군·금리 데이터 통합 반영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465" y="3493135"/>
            <a:ext cx="4114800" cy="58547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465" y="3493135"/>
            <a:ext cx="36830" cy="58547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735" y="3538855"/>
            <a:ext cx="391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모델 세분화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735" y="3785870"/>
            <a:ext cx="391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자치구별 개별 모델로 예측 정밀도 향상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36465" y="4151630"/>
            <a:ext cx="4114800" cy="585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36465" y="4151630"/>
            <a:ext cx="36830" cy="58547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735" y="4197350"/>
            <a:ext cx="391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유형 분류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735" y="4443730"/>
            <a:ext cx="391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급등·급락·지인 거래 등 유형별 탐지 기준 도입</a:t>
            </a:r>
            <a:endParaRPr lang="en-US" sz="1000" dirty="0"/>
          </a:p>
        </p:txBody>
      </p:sp>
      <p:sp>
        <p:nvSpPr>
          <p:cNvPr id="36" name="Shape 34"/>
          <p:cNvSpPr>
            <a:spLocks/>
          </p:cNvSpPr>
          <p:nvPr/>
        </p:nvSpPr>
        <p:spPr>
          <a:xfrm rot="0">
            <a:off x="411480" y="4798060"/>
            <a:ext cx="8423910" cy="320675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3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감사합니다.</a:t>
            </a:r>
            <a:endParaRPr lang="ko-KR" altLang="en-US" sz="13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1"/>
          <p:cNvSpPr>
            <a:spLocks/>
          </p:cNvSpPr>
          <p:nvPr/>
        </p:nvSpPr>
        <p:spPr>
          <a:xfrm rot="0">
            <a:off x="411480" y="201295"/>
            <a:ext cx="8321675" cy="5308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200" b="1">
                <a:solidFill>
                  <a:srgbClr val="17324D"/>
                </a:solidFill>
                <a:latin typeface="Calibri" charset="0"/>
                <a:ea typeface="Calibri" charset="0"/>
                <a:sym typeface="맑은 고딕" charset="0"/>
              </a:rPr>
              <a:t>References</a:t>
            </a:r>
            <a:endParaRPr lang="ko-KR" altLang="en-US" sz="2200" b="1">
              <a:solidFill>
                <a:srgbClr val="17324D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3" name="도형 2"/>
          <p:cNvSpPr>
            <a:spLocks/>
          </p:cNvSpPr>
          <p:nvPr/>
        </p:nvSpPr>
        <p:spPr>
          <a:xfrm rot="0">
            <a:off x="411480" y="768350"/>
            <a:ext cx="8321675" cy="20955"/>
          </a:xfrm>
          <a:prstGeom prst="rect"/>
          <a:solidFill>
            <a:srgbClr val="D9E2E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3"/>
          <p:cNvSpPr>
            <a:spLocks/>
          </p:cNvSpPr>
          <p:nvPr/>
        </p:nvSpPr>
        <p:spPr>
          <a:xfrm rot="0">
            <a:off x="411480" y="987425"/>
            <a:ext cx="8321675" cy="75057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" name="도형 4"/>
          <p:cNvSpPr>
            <a:spLocks/>
          </p:cNvSpPr>
          <p:nvPr/>
        </p:nvSpPr>
        <p:spPr>
          <a:xfrm rot="0">
            <a:off x="411480" y="987425"/>
            <a:ext cx="530860" cy="750570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" name="도형 5"/>
          <p:cNvSpPr>
            <a:spLocks/>
          </p:cNvSpPr>
          <p:nvPr/>
        </p:nvSpPr>
        <p:spPr>
          <a:xfrm rot="0">
            <a:off x="410845" y="999490"/>
            <a:ext cx="530860" cy="7505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Calibri" charset="0"/>
                <a:ea typeface="Calibri" charset="0"/>
                <a:sym typeface="맑은 고딕" charset="0"/>
              </a:rPr>
              <a:t>[1]</a:t>
            </a:r>
            <a:endParaRPr lang="ko-KR" altLang="en-US" sz="1100" b="1">
              <a:solidFill>
                <a:srgbClr val="FFFFFF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7" name="도형 6"/>
          <p:cNvSpPr>
            <a:spLocks/>
          </p:cNvSpPr>
          <p:nvPr/>
        </p:nvSpPr>
        <p:spPr>
          <a:xfrm rot="0">
            <a:off x="1042670" y="1060450"/>
            <a:ext cx="7590155" cy="512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50">
                <a:solidFill>
                  <a:srgbClr val="2B2B2B"/>
                </a:solidFill>
                <a:latin typeface="Calibri" charset="0"/>
                <a:ea typeface="Calibri" charset="0"/>
                <a:sym typeface="맑은 고딕" charset="0"/>
              </a:rPr>
              <a:t>Ministry of Land, Infrastructure and Transport (MOLIT), “Real Estate Transaction Price Disclosure System,” Available: </a:t>
            </a:r>
            <a:endParaRPr lang="ko-KR" altLang="en-US" sz="1150">
              <a:solidFill>
                <a:srgbClr val="2B2B2B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411480" y="1883410"/>
            <a:ext cx="8321675" cy="750570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" name="도형 8"/>
          <p:cNvSpPr>
            <a:spLocks/>
          </p:cNvSpPr>
          <p:nvPr/>
        </p:nvSpPr>
        <p:spPr>
          <a:xfrm rot="0">
            <a:off x="411480" y="1883410"/>
            <a:ext cx="530860" cy="750570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" name="도형 9"/>
          <p:cNvSpPr>
            <a:spLocks/>
          </p:cNvSpPr>
          <p:nvPr/>
        </p:nvSpPr>
        <p:spPr>
          <a:xfrm rot="0">
            <a:off x="410845" y="1889125"/>
            <a:ext cx="530860" cy="7505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Calibri" charset="0"/>
                <a:ea typeface="Calibri" charset="0"/>
                <a:sym typeface="맑은 고딕" charset="0"/>
              </a:rPr>
              <a:t>[2]</a:t>
            </a:r>
            <a:endParaRPr lang="ko-KR" altLang="en-US" sz="1100" b="1">
              <a:solidFill>
                <a:srgbClr val="FFFFFF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11" name="도형 10"/>
          <p:cNvSpPr>
            <a:spLocks/>
          </p:cNvSpPr>
          <p:nvPr/>
        </p:nvSpPr>
        <p:spPr>
          <a:xfrm rot="0">
            <a:off x="1042670" y="1957070"/>
            <a:ext cx="7590155" cy="512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50">
                <a:solidFill>
                  <a:srgbClr val="2B2B2B"/>
                </a:solidFill>
                <a:latin typeface="Calibri" charset="0"/>
                <a:ea typeface="Calibri" charset="0"/>
                <a:sym typeface="맑은 고딕" charset="0"/>
              </a:rPr>
              <a:t>S. Nam, T. Han, L. Kim, and E. Lee, “Real-Estate Price Prediction in South Korea via Machine Learning Modeling,” The Journal of The Institute of Internet, Broadcasting and Communication, pp. 15-20, 2020.</a:t>
            </a:r>
            <a:endParaRPr lang="ko-KR" altLang="en-US" sz="1150">
              <a:solidFill>
                <a:srgbClr val="2B2B2B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12" name="도형 11"/>
          <p:cNvSpPr>
            <a:spLocks/>
          </p:cNvSpPr>
          <p:nvPr/>
        </p:nvSpPr>
        <p:spPr>
          <a:xfrm rot="0">
            <a:off x="411480" y="2780030"/>
            <a:ext cx="8321675" cy="750570"/>
          </a:xfrm>
          <a:prstGeom prst="rect"/>
          <a:solidFill>
            <a:srgbClr val="FFFFFF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411480" y="2780030"/>
            <a:ext cx="530860" cy="750570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13"/>
          <p:cNvSpPr>
            <a:spLocks/>
          </p:cNvSpPr>
          <p:nvPr/>
        </p:nvSpPr>
        <p:spPr>
          <a:xfrm rot="0">
            <a:off x="410845" y="2779395"/>
            <a:ext cx="530860" cy="7505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Calibri" charset="0"/>
                <a:ea typeface="Calibri" charset="0"/>
                <a:sym typeface="맑은 고딕" charset="0"/>
              </a:rPr>
              <a:t>[3]</a:t>
            </a:r>
            <a:endParaRPr lang="ko-KR" altLang="en-US" sz="1100" b="1">
              <a:solidFill>
                <a:srgbClr val="FFFFFF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15" name="도형 14"/>
          <p:cNvSpPr>
            <a:spLocks/>
          </p:cNvSpPr>
          <p:nvPr/>
        </p:nvSpPr>
        <p:spPr>
          <a:xfrm rot="0">
            <a:off x="1042670" y="2853055"/>
            <a:ext cx="7590155" cy="512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50">
                <a:solidFill>
                  <a:srgbClr val="2B2B2B"/>
                </a:solidFill>
                <a:latin typeface="Calibri" charset="0"/>
                <a:ea typeface="Calibri" charset="0"/>
                <a:sym typeface="맑은 고딕" charset="0"/>
              </a:rPr>
              <a:t>scikit-learn Documentation. </a:t>
            </a:r>
            <a:r>
              <a:rPr sz="1150" i="1">
                <a:solidFill>
                  <a:srgbClr val="2B2B2B"/>
                </a:solidFill>
                <a:latin typeface="Calibri" charset="0"/>
                <a:ea typeface="Calibri" charset="0"/>
                <a:sym typeface="맑은 고딕" charset="0"/>
              </a:rPr>
              <a:t>Model Evaluation and Train-Test Split.</a:t>
            </a:r>
            <a:endParaRPr lang="ko-KR" altLang="en-US" sz="1150" i="1">
              <a:solidFill>
                <a:srgbClr val="2B2B2B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16" name="도형 15"/>
          <p:cNvSpPr>
            <a:spLocks/>
          </p:cNvSpPr>
          <p:nvPr/>
        </p:nvSpPr>
        <p:spPr>
          <a:xfrm rot="0">
            <a:off x="1042670" y="3273425"/>
            <a:ext cx="7590155" cy="20193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50">
                <a:solidFill>
                  <a:srgbClr val="2F6FA3"/>
                </a:solidFill>
                <a:latin typeface="Calibri" charset="0"/>
                <a:ea typeface="Calibri" charset="0"/>
                <a:sym typeface="맑은 고딕" charset="0"/>
              </a:rPr>
              <a:t>https://scikit-learn.org</a:t>
            </a:r>
            <a:endParaRPr lang="ko-KR" altLang="en-US" sz="950">
              <a:solidFill>
                <a:srgbClr val="2F6FA3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17" name="도형 16"/>
          <p:cNvSpPr>
            <a:spLocks/>
          </p:cNvSpPr>
          <p:nvPr/>
        </p:nvSpPr>
        <p:spPr>
          <a:xfrm rot="0">
            <a:off x="411480" y="3676015"/>
            <a:ext cx="8321675" cy="750570"/>
          </a:xfrm>
          <a:prstGeom prst="rect"/>
          <a:solidFill>
            <a:srgbClr val="F7F9FC"/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8" name="도형 17"/>
          <p:cNvSpPr>
            <a:spLocks/>
          </p:cNvSpPr>
          <p:nvPr/>
        </p:nvSpPr>
        <p:spPr>
          <a:xfrm rot="0">
            <a:off x="411480" y="3676015"/>
            <a:ext cx="530860" cy="750570"/>
          </a:xfrm>
          <a:prstGeom prst="rect"/>
          <a:solidFill>
            <a:srgbClr val="17324D"/>
          </a:solidFill>
          <a:ln w="12700" cap="flat" cmpd="sng">
            <a:solidFill>
              <a:srgbClr val="17324D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9" name="도형 18"/>
          <p:cNvSpPr>
            <a:spLocks/>
          </p:cNvSpPr>
          <p:nvPr/>
        </p:nvSpPr>
        <p:spPr>
          <a:xfrm rot="0">
            <a:off x="410845" y="3681730"/>
            <a:ext cx="530860" cy="7505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Calibri" charset="0"/>
                <a:ea typeface="Calibri" charset="0"/>
                <a:sym typeface="맑은 고딕" charset="0"/>
              </a:rPr>
              <a:t>[4]</a:t>
            </a:r>
            <a:endParaRPr lang="ko-KR" altLang="en-US" sz="1100" b="1">
              <a:solidFill>
                <a:srgbClr val="FFFFFF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20" name="도형 19"/>
          <p:cNvSpPr>
            <a:spLocks/>
          </p:cNvSpPr>
          <p:nvPr/>
        </p:nvSpPr>
        <p:spPr>
          <a:xfrm rot="0">
            <a:off x="1042670" y="3749040"/>
            <a:ext cx="7590155" cy="512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50">
                <a:solidFill>
                  <a:srgbClr val="2B2B2B"/>
                </a:solidFill>
                <a:latin typeface="Calibri" charset="0"/>
                <a:ea typeface="Calibri" charset="0"/>
                <a:sym typeface="맑은 고딕" charset="0"/>
              </a:rPr>
              <a:t>XGBoost Documentation. </a:t>
            </a:r>
            <a:r>
              <a:rPr sz="1150" i="1">
                <a:solidFill>
                  <a:srgbClr val="2B2B2B"/>
                </a:solidFill>
                <a:latin typeface="Calibri" charset="0"/>
                <a:ea typeface="Calibri" charset="0"/>
                <a:sym typeface="맑은 고딕" charset="0"/>
              </a:rPr>
              <a:t>XGBoost Python Package.</a:t>
            </a:r>
            <a:endParaRPr lang="ko-KR" altLang="en-US" sz="1150" i="1">
              <a:solidFill>
                <a:srgbClr val="2B2B2B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21" name="도형 20"/>
          <p:cNvSpPr>
            <a:spLocks/>
          </p:cNvSpPr>
          <p:nvPr/>
        </p:nvSpPr>
        <p:spPr>
          <a:xfrm rot="0">
            <a:off x="1042670" y="4169410"/>
            <a:ext cx="7590155" cy="20193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50">
                <a:solidFill>
                  <a:srgbClr val="2F6FA3"/>
                </a:solidFill>
                <a:latin typeface="Calibri" charset="0"/>
                <a:ea typeface="Calibri" charset="0"/>
                <a:sym typeface="맑은 고딕" charset="0"/>
              </a:rPr>
              <a:t>https://xgboost.readthedocs.io</a:t>
            </a:r>
            <a:endParaRPr lang="ko-KR" altLang="en-US" sz="950">
              <a:solidFill>
                <a:srgbClr val="2F6FA3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sp>
        <p:nvSpPr>
          <p:cNvPr id="22" name="도형 21"/>
          <p:cNvSpPr>
            <a:spLocks/>
          </p:cNvSpPr>
          <p:nvPr/>
        </p:nvSpPr>
        <p:spPr>
          <a:xfrm rot="0">
            <a:off x="1043305" y="1476375"/>
            <a:ext cx="7590155" cy="20193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50">
                <a:solidFill>
                  <a:srgbClr val="2F6FA3"/>
                </a:solidFill>
                <a:latin typeface="Calibri" charset="0"/>
                <a:ea typeface="Calibri" charset="0"/>
                <a:sym typeface="맑은 고딕" charset="0"/>
              </a:rPr>
              <a:t>https://rt.molit.go.kr</a:t>
            </a:r>
            <a:endParaRPr lang="ko-KR" altLang="en-US" sz="950">
              <a:solidFill>
                <a:srgbClr val="2F6FA3"/>
              </a:solidFill>
              <a:latin typeface="Calibri" charset="0"/>
              <a:ea typeface="Calibri" charset="0"/>
              <a:sym typeface="맑은 고딕" charset="0"/>
            </a:endParaRPr>
          </a:p>
        </p:txBody>
      </p:sp>
      <p:pic>
        <p:nvPicPr>
          <p:cNvPr id="23" name="그림 24" descr="C:/Users/y2l10/AppData/Roaming/PolarisOffice/ETemp/27444_8203584/fImage573773878467.jpeg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04760" y="4632325"/>
            <a:ext cx="1126490" cy="2622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9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이예영</cp:lastModifiedBy>
  <dc:title>PptxGenJS Presentation</dc:title>
  <dc:subject>PptxGenJS Presentation</dc:subject>
  <cp:version>10.105.293.56114</cp:version>
  <dcterms:modified xsi:type="dcterms:W3CDTF">2026-05-20T17:13:18Z</dcterms:modified>
</cp:coreProperties>
</file>